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2.svg" ContentType="image/svg"/>
  <Override PartName="/ppt/media/image19.jpeg" ContentType="image/jpeg"/>
  <Override PartName="/ppt/media/image8.svg" ContentType="image/svg"/>
  <Override PartName="/ppt/media/image13.png" ContentType="image/png"/>
  <Override PartName="/ppt/media/image10.svg" ContentType="image/svg"/>
  <Override PartName="/ppt/media/image9.png" ContentType="image/png"/>
  <Override PartName="/ppt/media/image20.png" ContentType="image/png"/>
  <Override PartName="/ppt/media/image6.svg" ContentType="image/svg"/>
  <Override PartName="/ppt/media/image11.png" ContentType="image/png"/>
  <Override PartName="/ppt/media/image7.png" ContentType="image/png"/>
  <Override PartName="/ppt/media/image4.svg" ContentType="image/svg"/>
  <Override PartName="/ppt/media/image3.png" ContentType="image/png"/>
  <Override PartName="/ppt/media/image5.png" ContentType="image/png"/>
  <Override PartName="/ppt/media/image2.svg" ContentType="image/svg"/>
  <Override PartName="/ppt/media/image1.png" ContentType="image/png"/>
  <Override PartName="/ppt/media/image28.png" ContentType="image/png"/>
  <Override PartName="/ppt/media/image27.png" ContentType="image/png"/>
  <Override PartName="/ppt/media/image15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8.svg" ContentType="image/svg"/>
  <Override PartName="/ppt/media/image17.png" ContentType="image/png"/>
  <Override PartName="/ppt/media/image14.svg" ContentType="image/svg"/>
  <Override PartName="/ppt/media/image16.svg" ContentType="image/sv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</p:sldIdLst>
  <p:sldSz cx="12193588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729085872576177"/>
          <c:y val="0.0329560585885486"/>
          <c:w val="0.469584487534626"/>
          <c:h val="0.899467376830892"/>
        </c:manualLayout>
      </c:layout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Столбец 1</c:v>
                </c:pt>
              </c:strCache>
            </c:strRef>
          </c:tx>
          <c:spPr>
            <a:solidFill>
              <a:srgbClr val="004586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004586"/>
              </a:solidFill>
              <a:ln w="0">
                <a:noFill/>
              </a:ln>
            </c:spPr>
          </c:dPt>
          <c:dPt>
            <c:idx val="1"/>
            <c:spPr>
              <a:solidFill>
                <a:srgbClr val="ff420e"/>
              </a:solidFill>
              <a:ln w="0">
                <a:noFill/>
              </a:ln>
            </c:spPr>
          </c:dPt>
          <c:dPt>
            <c:idx val="2"/>
            <c:spPr>
              <a:solidFill>
                <a:srgbClr val="ffd320"/>
              </a:solidFill>
              <a:ln w="0">
                <a:noFill/>
              </a:ln>
            </c:spPr>
          </c:dPt>
          <c:dLbls>
            <c:numFmt formatCode="General" sourceLinked="0"/>
            <c:dLbl>
              <c:idx val="0"/>
              <c:numFmt formatCode="General" sourceLinked="0"/>
              <c:txPr>
                <a:bodyPr wrap="none"/>
                <a:lstStyle/>
                <a:p>
                  <a:pPr>
                    <a:defRPr b="0" sz="2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eparator> </c:separator>
            </c:dLbl>
            <c:dLbl>
              <c:idx val="1"/>
              <c:numFmt formatCode="General" sourceLinked="0"/>
              <c:txPr>
                <a:bodyPr wrap="none"/>
                <a:lstStyle/>
                <a:p>
                  <a:pPr>
                    <a:defRPr b="0" sz="2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eparator> </c:separator>
            </c:dLbl>
            <c:dLbl>
              <c:idx val="2"/>
              <c:numFmt formatCode="General" sourceLinked="0"/>
              <c:txPr>
                <a:bodyPr wrap="none"/>
                <a:lstStyle/>
                <a:p>
                  <a:pPr>
                    <a:defRPr b="0" sz="2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eparator> </c:separator>
            <c:showLeaderLines val="0"/>
          </c:dLbls>
          <c:cat>
            <c:strRef>
              <c:f>categories</c:f>
              <c:strCache>
                <c:ptCount val="3"/>
                <c:pt idx="0">
                  <c:v>испытывают трудности</c:v>
                </c:pt>
                <c:pt idx="1">
                  <c:v>не используют сенсорные гаджеты</c:v>
                </c:pt>
                <c:pt idx="2">
                  <c:v>хорошо разбираются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0.6</c:v>
                </c:pt>
                <c:pt idx="1">
                  <c:v>0.08</c:v>
                </c:pt>
                <c:pt idx="2">
                  <c:v>0.32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Столбец 2</c:v>
                </c:pt>
              </c:strCache>
            </c:strRef>
          </c:tx>
          <c:spPr>
            <a:solidFill>
              <a:srgbClr val="ff420e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004586"/>
              </a:solidFill>
              <a:ln w="0">
                <a:noFill/>
              </a:ln>
            </c:spPr>
          </c:dPt>
          <c:dPt>
            <c:idx val="1"/>
            <c:spPr>
              <a:solidFill>
                <a:srgbClr val="ff420e"/>
              </a:solidFill>
              <a:ln w="0">
                <a:noFill/>
              </a:ln>
            </c:spPr>
          </c:dPt>
          <c:dPt>
            <c:idx val="2"/>
            <c:spPr>
              <a:solidFill>
                <a:srgbClr val="ffd320"/>
              </a:solidFill>
              <a:ln w="0">
                <a:noFill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3"/>
                <c:pt idx="0">
                  <c:v>испытывают трудности</c:v>
                </c:pt>
                <c:pt idx="1">
                  <c:v>не используют сенсорные гаджеты</c:v>
                </c:pt>
                <c:pt idx="2">
                  <c:v>хорошо разбираются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3.2</c:v>
                </c:pt>
                <c:pt idx="1">
                  <c:v>1.5</c:v>
                </c:pt>
                <c:pt idx="2">
                  <c:v>9.02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Столбец 3</c:v>
                </c:pt>
              </c:strCache>
            </c:strRef>
          </c:tx>
          <c:spPr>
            <a:solidFill>
              <a:srgbClr val="ffd320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004586"/>
              </a:solidFill>
              <a:ln w="0">
                <a:noFill/>
              </a:ln>
            </c:spPr>
          </c:dPt>
          <c:dPt>
            <c:idx val="1"/>
            <c:spPr>
              <a:solidFill>
                <a:srgbClr val="ff420e"/>
              </a:solidFill>
              <a:ln w="0">
                <a:noFill/>
              </a:ln>
            </c:spPr>
          </c:dPt>
          <c:dPt>
            <c:idx val="2"/>
            <c:spPr>
              <a:solidFill>
                <a:srgbClr val="ffd320"/>
              </a:solidFill>
              <a:ln w="0">
                <a:noFill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3"/>
                <c:pt idx="0">
                  <c:v>испытывают трудности</c:v>
                </c:pt>
                <c:pt idx="1">
                  <c:v>не используют сенсорные гаджеты</c:v>
                </c:pt>
                <c:pt idx="2">
                  <c:v>хорошо разбираются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3"/>
                <c:pt idx="0">
                  <c:v>4.54</c:v>
                </c:pt>
                <c:pt idx="1">
                  <c:v>3.7</c:v>
                </c:pt>
                <c:pt idx="2">
                  <c:v>6.2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legend>
      <c:legendPos val="r"/>
      <c:layout>
        <c:manualLayout>
          <c:xMode val="edge"/>
          <c:yMode val="edge"/>
          <c:x val="0.617340720221607"/>
          <c:y val="0.162893919218819"/>
          <c:w val="0.34339852623414"/>
          <c:h val="0.679502829874598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b="0" sz="2000" strike="noStrike" u="none">
              <a:solidFill>
                <a:srgbClr val="000000"/>
              </a:solidFill>
              <a:uFillTx/>
              <a:latin typeface="Arial"/>
              <a:ea typeface="DejaVu Sans"/>
            </a:defRPr>
          </a:pPr>
        </a:p>
      </c:txPr>
    </c:legend>
    <c:plotVisOnly val="1"/>
    <c:dispBlanksAs val="zero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перемещения страницы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68D8773-9EB0-481A-B3C6-8290535A9173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D99753-8302-4456-8A8D-D6FF48ABDF8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F6331B-7A31-4606-ADA8-64E3041BCB0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A77F9F-4F0D-4C20-80B6-C6C8D5E1008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861D7A8-539A-434E-8484-6257AF8A47D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665B3A0-D4EA-4C8B-9D68-B9DF4CA3BA0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onfetti Content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35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fetti Content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35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ottom Pattern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ottom Patter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 Phot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Right Patter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Right Pattern Content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ft Patter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ft Pattern Content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slideLayout" Target="../slideLayouts/slideLayout1.xml"/><Relationship Id="rId7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slideLayout" Target="../slideLayouts/slideLayout7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slideLayout" Target="../slideLayouts/slideLayout8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slideLayout" Target="../slideLayouts/slideLayout9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raphic 2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131400"/>
            <a:ext cx="12191400" cy="42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Graphic 3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0" y="6340680"/>
            <a:ext cx="1219140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6"/>
    <p:sldLayoutId id="2147483650" r:id="rId7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 flipH="1">
            <a:off x="1800" y="0"/>
            <a:ext cx="3799080" cy="685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5320" y="2146680"/>
            <a:ext cx="91404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5852880"/>
            <a:ext cx="12191400" cy="85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Graphic 1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0" y="5833800"/>
            <a:ext cx="12191400" cy="87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6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5833800"/>
            <a:ext cx="12191400" cy="87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6000840"/>
            <a:ext cx="12191400" cy="85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634600" y="0"/>
            <a:ext cx="3556800" cy="685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Graphic 6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382600" y="0"/>
            <a:ext cx="3808440" cy="685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6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634600" y="0"/>
            <a:ext cx="3556800" cy="685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Graphic 6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382600" y="0"/>
            <a:ext cx="3808440" cy="685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6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12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 flipH="1">
            <a:off x="1800" y="0"/>
            <a:ext cx="3808440" cy="685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Graphic 7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0" y="0"/>
            <a:ext cx="3808440" cy="685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6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raphic 12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 flipH="1">
            <a:off x="1800" y="0"/>
            <a:ext cx="3808440" cy="685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Graphic 7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0" y="0"/>
            <a:ext cx="3808440" cy="685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856680" y="2427840"/>
            <a:ext cx="8130240" cy="160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Образовательный ресурс </a:t>
            </a:r>
            <a:br>
              <a:rPr sz="4800"/>
            </a:br>
            <a:r>
              <a:rPr b="1" lang="en-US" sz="48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“</a:t>
            </a:r>
            <a:r>
              <a:rPr b="1" lang="ru-RU" sz="48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Яндекс для старшего поколения</a:t>
            </a:r>
            <a:r>
              <a:rPr b="1" lang="en-US" sz="48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”</a:t>
            </a:r>
            <a:endParaRPr b="0" lang="ru-RU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Rectangle 1"/>
          <p:cNvSpPr/>
          <p:nvPr/>
        </p:nvSpPr>
        <p:spPr>
          <a:xfrm>
            <a:off x="0" y="0"/>
            <a:ext cx="121914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90000" rIns="90000" tIns="360" bIns="360" anchor="ctr">
            <a:spAutoFit/>
          </a:bodyPr>
          <a:p>
            <a:endParaRPr b="0" lang="en-GB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" name="Rectangle 2"/>
          <p:cNvSpPr/>
          <p:nvPr/>
        </p:nvSpPr>
        <p:spPr>
          <a:xfrm>
            <a:off x="152280" y="152280"/>
            <a:ext cx="121914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90000" rIns="90000" tIns="360" bIns="360" anchor="ctr">
            <a:spAutoFit/>
          </a:bodyPr>
          <a:p>
            <a:endParaRPr b="0" lang="en-GB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8" name="TextBox 11"/>
          <p:cNvSpPr/>
          <p:nvPr/>
        </p:nvSpPr>
        <p:spPr>
          <a:xfrm>
            <a:off x="6300360" y="5349960"/>
            <a:ext cx="5760000" cy="13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Авторы</a:t>
            </a: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: </a:t>
            </a: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Торопова София Эдуардовна и Полякова Анна Александровна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10 класс, ГБОУ Инженерная школа №1581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Руководитель</a:t>
            </a: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:</a:t>
            </a: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 Гришина Арина Александровна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762120" y="716040"/>
            <a:ext cx="647604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40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Оглавление</a:t>
            </a:r>
            <a:r>
              <a:rPr b="1" lang="en-US" sz="40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:</a:t>
            </a:r>
            <a:endParaRPr b="0" lang="ru-RU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762120" y="1905120"/>
            <a:ext cx="6476040" cy="327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Актуальность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Цели и задачи работы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Методика выполнения работы 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Преимущества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Результаты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Дальнейшее развитие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-733320" y="859680"/>
            <a:ext cx="9140400" cy="61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algn="ctr" defTabSz="9327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4000" spc="-51" strike="noStrike" u="none">
                <a:solidFill>
                  <a:schemeClr val="accent3"/>
                </a:solidFill>
                <a:effectLst/>
                <a:uFillTx/>
                <a:latin typeface="Segoe UI"/>
              </a:rPr>
              <a:t>Работа и её актуальность</a:t>
            </a:r>
            <a:r>
              <a:rPr b="1" lang="en-US" sz="4000" spc="-51" strike="noStrike" u="none">
                <a:solidFill>
                  <a:schemeClr val="accent3"/>
                </a:solidFill>
                <a:effectLst/>
                <a:uFillTx/>
                <a:latin typeface="Segoe UI"/>
              </a:rPr>
              <a:t>:</a:t>
            </a:r>
            <a:endParaRPr b="0" lang="ru-RU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321840" y="2008080"/>
            <a:ext cx="9324000" cy="39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85840" indent="-285840" defTabSz="914400">
              <a:lnSpc>
                <a:spcPct val="90000"/>
              </a:lnSpc>
              <a:buClr>
                <a:srgbClr val="ffffff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Данный проект предназначен для помощи людям старшего поколения в освоении цифровых сервисов Яндекс. На данный момент многие пожилые люди испытывают трудности с использованием современных технологий, что ограничивает их возможности в цифровом обществе.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 В работе рассматривается создание адаптированного веб-сайта с учетом возрастных особенностей восприятия. В ходе проекта использовалось программирование, WEB-дизайн, а также принципы юзабилити для старшего поколения.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76240" y="692280"/>
            <a:ext cx="10416960" cy="63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defTabSz="9327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4000" spc="-51" strike="noStrike" u="none">
                <a:solidFill>
                  <a:schemeClr val="accent3"/>
                </a:solidFill>
                <a:effectLst/>
                <a:uFillTx/>
                <a:latin typeface="Segoe UI"/>
              </a:rPr>
              <a:t>Цель:</a:t>
            </a:r>
            <a:endParaRPr b="0" lang="ru-RU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876240" y="1905120"/>
            <a:ext cx="10416960" cy="71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Создать образовательный веб-ресурс с доступом к видеоурокам по сервисам Яндекс и дать пользователям возможность проверить знания с помощью интерактивных тестов.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34200" y="716040"/>
            <a:ext cx="695448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000" spc="-51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Задачи работы:</a:t>
            </a:r>
            <a:br>
              <a:rPr sz="4000"/>
            </a:b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34200" y="1905120"/>
            <a:ext cx="6625440" cy="327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264653"/>
              </a:buClr>
              <a:buFont typeface="OpenSymbol"/>
              <a:buAutoNum type="arabicPeriod"/>
            </a:pPr>
            <a:r>
              <a:rPr b="1" lang="ru-RU" sz="20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Продумать и создать адаптированный дизайн  страниц сайта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264653"/>
              </a:buClr>
              <a:buFont typeface="OpenSymbol"/>
              <a:buAutoNum type="arabicPeriod"/>
            </a:pPr>
            <a:r>
              <a:rPr b="1" lang="ru-RU" sz="20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Разработать функционал обучающего портала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264653"/>
              </a:buClr>
              <a:buFont typeface="OpenSymbol"/>
              <a:buAutoNum type="arabicPeriod"/>
            </a:pPr>
            <a:r>
              <a:rPr b="1" lang="ru-RU" sz="20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Собрать и систематизировать информацию по 4 сервисам Яндекс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264653"/>
              </a:buClr>
              <a:buFont typeface="OpenSymbol"/>
              <a:buAutoNum type="arabicPeriod"/>
            </a:pPr>
            <a:r>
              <a:rPr b="1" lang="ru-RU" sz="20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Написать код для реализации образовательной платформы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264653"/>
              </a:buClr>
              <a:buFont typeface="OpenSymbol"/>
              <a:buAutoNum type="arabicPeriod"/>
            </a:pPr>
            <a:r>
              <a:rPr b="1" lang="ru-RU" sz="20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Провести тестирование с целевой аудиторией, выявить и исправить ошибки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762120" y="716040"/>
            <a:ext cx="10667160" cy="64440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4000" strike="noStrike" u="none">
                <a:solidFill>
                  <a:schemeClr val="accent3"/>
                </a:solidFill>
                <a:effectLst/>
                <a:uFillTx/>
                <a:latin typeface="Segoe UI"/>
              </a:rPr>
              <a:t>Для реализации проекта мы изучили</a:t>
            </a:r>
            <a:r>
              <a:rPr b="1" lang="en-US" sz="4000" strike="noStrike" u="none">
                <a:solidFill>
                  <a:schemeClr val="accent3"/>
                </a:solidFill>
                <a:effectLst/>
                <a:uFillTx/>
                <a:latin typeface="Segoe UI"/>
              </a:rPr>
              <a:t>:</a:t>
            </a:r>
            <a:endParaRPr b="0" lang="ru-RU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" name="Picture 10" descr=""/>
          <p:cNvPicPr/>
          <p:nvPr/>
        </p:nvPicPr>
        <p:blipFill>
          <a:blip r:embed="rId1"/>
          <a:stretch/>
        </p:blipFill>
        <p:spPr>
          <a:xfrm rot="20438400">
            <a:off x="310680" y="83160"/>
            <a:ext cx="646920" cy="82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Рисунок 8" descr=""/>
          <p:cNvPicPr/>
          <p:nvPr/>
        </p:nvPicPr>
        <p:blipFill>
          <a:blip r:embed="rId2"/>
          <a:stretch/>
        </p:blipFill>
        <p:spPr>
          <a:xfrm>
            <a:off x="6778080" y="1833120"/>
            <a:ext cx="5302800" cy="315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Box 10"/>
          <p:cNvSpPr/>
          <p:nvPr/>
        </p:nvSpPr>
        <p:spPr>
          <a:xfrm>
            <a:off x="218520" y="1601640"/>
            <a:ext cx="6638400" cy="34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650"/>
              </a:lnSpc>
            </a:pPr>
            <a:r>
              <a:rPr b="0" lang="ru-RU" sz="2400" strike="noStrike" u="none">
                <a:solidFill>
                  <a:srgbClr val="f9fafb"/>
                </a:solidFill>
                <a:effectLst/>
                <a:uFillTx/>
                <a:latin typeface="Menlo"/>
                <a:ea typeface="DejaVu Sans"/>
              </a:rPr>
              <a:t>Разработка 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ts val="1650"/>
              </a:lnSpc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ts val="1650"/>
              </a:lnSpc>
              <a:buClr>
                <a:srgbClr val="f9fafb"/>
              </a:buClr>
              <a:buFont typeface="OpenSymbol"/>
              <a:buChar char="-"/>
            </a:pPr>
            <a:r>
              <a:rPr b="0" lang="ru-RU" sz="2400" strike="noStrike" u="none">
                <a:solidFill>
                  <a:srgbClr val="f9fafb"/>
                </a:solidFill>
                <a:effectLst/>
                <a:uFillTx/>
                <a:latin typeface="Menlo"/>
                <a:ea typeface="DejaVu Sans"/>
              </a:rPr>
              <a:t>CSS3 - адаптивный дизайн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ts val="1650"/>
              </a:lnSpc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ts val="1650"/>
              </a:lnSpc>
            </a:pPr>
            <a:r>
              <a:rPr b="0" lang="ru-RU" sz="2400" strike="noStrike" u="none">
                <a:solidFill>
                  <a:srgbClr val="f9fafb"/>
                </a:solidFill>
                <a:effectLst/>
                <a:uFillTx/>
                <a:latin typeface="Menlo"/>
                <a:ea typeface="DejaVu Sans"/>
              </a:rPr>
              <a:t>Дизайн 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ts val="1650"/>
              </a:lnSpc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ts val="1650"/>
              </a:lnSpc>
              <a:buClr>
                <a:srgbClr val="f9fafb"/>
              </a:buClr>
              <a:buFont typeface="OpenSymbol"/>
              <a:buChar char="-"/>
            </a:pPr>
            <a:r>
              <a:rPr b="0" lang="ru-RU" sz="2400" strike="noStrike" u="none">
                <a:solidFill>
                  <a:srgbClr val="f9fafb"/>
                </a:solidFill>
                <a:effectLst/>
                <a:uFillTx/>
                <a:latin typeface="Menlo"/>
                <a:ea typeface="DejaVu Sans"/>
              </a:rPr>
              <a:t>Figma - проектирование интерфейсов 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ts val="1650"/>
              </a:lnSpc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ts val="1650"/>
              </a:lnSpc>
              <a:buClr>
                <a:srgbClr val="f9fafb"/>
              </a:buClr>
              <a:buFont typeface="OpenSymbol"/>
              <a:buChar char="-"/>
            </a:pPr>
            <a:r>
              <a:rPr b="0" lang="ru-RU" sz="2400" strike="noStrike" u="none">
                <a:solidFill>
                  <a:srgbClr val="f9fafb"/>
                </a:solidFill>
                <a:effectLst/>
                <a:uFillTx/>
                <a:latin typeface="Menlo"/>
                <a:ea typeface="DejaVu Sans"/>
              </a:rPr>
              <a:t>Принципы юзабилити для старшего поколения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ts val="1650"/>
              </a:lnSpc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ts val="1650"/>
              </a:lnSpc>
            </a:pPr>
            <a:r>
              <a:rPr b="0" lang="ru-RU" sz="2400" strike="noStrike" u="none">
                <a:solidFill>
                  <a:srgbClr val="f9fafb"/>
                </a:solidFill>
                <a:effectLst/>
                <a:uFillTx/>
                <a:latin typeface="Menlo"/>
                <a:ea typeface="DejaVu Sans"/>
              </a:rPr>
              <a:t> Организация проекта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ts val="1650"/>
              </a:lnSpc>
              <a:buClr>
                <a:srgbClr val="f9fafb"/>
              </a:buClr>
              <a:buFont typeface="OpenSymbol"/>
              <a:buChar char="-"/>
            </a:pPr>
            <a:r>
              <a:rPr b="0" lang="ru-RU" sz="2400" strike="noStrike" u="none">
                <a:solidFill>
                  <a:srgbClr val="f9fafb"/>
                </a:solidFill>
                <a:effectLst/>
                <a:uFillTx/>
                <a:latin typeface="Menlo"/>
                <a:ea typeface="DejaVu Sans"/>
              </a:rPr>
              <a:t> 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ts val="1650"/>
              </a:lnSpc>
              <a:buClr>
                <a:srgbClr val="f9fafb"/>
              </a:buClr>
              <a:buFont typeface="OpenSymbol"/>
              <a:buChar char="-"/>
            </a:pPr>
            <a:r>
              <a:rPr b="0" lang="ru-RU" sz="2400" strike="noStrike" u="none">
                <a:solidFill>
                  <a:srgbClr val="f9fafb"/>
                </a:solidFill>
                <a:effectLst/>
                <a:uFillTx/>
                <a:latin typeface="Menlo"/>
                <a:ea typeface="DejaVu Sans"/>
              </a:rPr>
              <a:t>Модульная структура 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ts val="1650"/>
              </a:lnSpc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ts val="1650"/>
              </a:lnSpc>
              <a:buClr>
                <a:srgbClr val="f9fafb"/>
              </a:buClr>
              <a:buFont typeface="OpenSymbol"/>
              <a:buChar char="-"/>
            </a:pPr>
            <a:r>
              <a:rPr b="0" lang="ru-RU" sz="2400" strike="noStrike" u="none">
                <a:solidFill>
                  <a:srgbClr val="f9fafb"/>
                </a:solidFill>
                <a:effectLst/>
                <a:uFillTx/>
                <a:latin typeface="Menlo"/>
                <a:ea typeface="DejaVu Sans"/>
              </a:rPr>
              <a:t>Git - контроль версий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" name="Рисунок 14" descr=""/>
          <p:cNvPicPr/>
          <p:nvPr/>
        </p:nvPicPr>
        <p:blipFill>
          <a:blip r:embed="rId3"/>
          <a:srcRect l="0" t="16722" r="2817" b="17236"/>
          <a:stretch/>
        </p:blipFill>
        <p:spPr>
          <a:xfrm rot="861000">
            <a:off x="10681560" y="413280"/>
            <a:ext cx="1138680" cy="610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67200" y="469080"/>
            <a:ext cx="533268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40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Методика выполнения работ</a:t>
            </a:r>
            <a:r>
              <a:rPr b="1" lang="en-US" sz="40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.</a:t>
            </a:r>
            <a:r>
              <a:rPr b="1" lang="ru-RU" sz="40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 Теоретическая часть</a:t>
            </a:r>
            <a:r>
              <a:rPr b="1" lang="en-US" sz="40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.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Content Placeholder 2"/>
          <p:cNvSpPr/>
          <p:nvPr/>
        </p:nvSpPr>
        <p:spPr>
          <a:xfrm>
            <a:off x="202320" y="2167200"/>
            <a:ext cx="4404960" cy="31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 Продумывание функционала сайта и пользовательских сценариев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Symbol" charset="2"/>
              <a:buChar char="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2. Сбор данных о сервисах Яндекс и создание структуры сайта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12"/>
          <p:cNvSpPr/>
          <p:nvPr/>
        </p:nvSpPr>
        <p:spPr>
          <a:xfrm>
            <a:off x="5400360" y="4860000"/>
            <a:ext cx="41389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Схема перехода между страницами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10009800" y="180000"/>
            <a:ext cx="1869480" cy="521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" descr=""/>
          <p:cNvPicPr/>
          <p:nvPr/>
        </p:nvPicPr>
        <p:blipFill>
          <a:blip r:embed="rId2"/>
          <a:stretch/>
        </p:blipFill>
        <p:spPr>
          <a:xfrm>
            <a:off x="5701320" y="900000"/>
            <a:ext cx="3393720" cy="399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"/>
          <p:cNvSpPr/>
          <p:nvPr/>
        </p:nvSpPr>
        <p:spPr>
          <a:xfrm>
            <a:off x="9180000" y="5400000"/>
            <a:ext cx="413964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Схема работы 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образовательного ресурса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367200" y="469080"/>
            <a:ext cx="533268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40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Методика выполнения работ</a:t>
            </a:r>
            <a:r>
              <a:rPr b="1" lang="en-US" sz="40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.</a:t>
            </a:r>
            <a:r>
              <a:rPr b="1" lang="ru-RU" sz="40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 Теоретическая часть</a:t>
            </a:r>
            <a:r>
              <a:rPr b="1" lang="en-US" sz="40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.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540000" y="1980000"/>
            <a:ext cx="377964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Мы провели опрос среди нашей целевой аудитории. 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0" name=""/>
          <p:cNvGraphicFramePr/>
          <p:nvPr/>
        </p:nvGraphicFramePr>
        <p:xfrm>
          <a:off x="5318640" y="1471320"/>
          <a:ext cx="6497640" cy="3243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27600" y="923400"/>
            <a:ext cx="9140400" cy="61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62500" lnSpcReduction="19999"/>
          </a:bodyPr>
          <a:p>
            <a:pPr indent="0" defTabSz="9327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4000" spc="-51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Методика выполнения работы</a:t>
            </a:r>
            <a:r>
              <a:rPr b="1" lang="en-US" sz="4000" spc="-51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.</a:t>
            </a:r>
            <a:br>
              <a:rPr sz="4000"/>
            </a:br>
            <a:r>
              <a:rPr b="1" lang="ru-RU" sz="4000" spc="-51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Сайт проекта</a:t>
            </a:r>
            <a:r>
              <a:rPr b="1" lang="en-US" sz="4000" spc="-51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.</a:t>
            </a:r>
            <a:endParaRPr b="0" lang="ru-RU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540000" y="2160000"/>
            <a:ext cx="2769120" cy="153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Дизайн главной страницы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" name="Рисунок 4" descr=""/>
          <p:cNvPicPr/>
          <p:nvPr/>
        </p:nvPicPr>
        <p:blipFill>
          <a:blip r:embed="rId1"/>
          <a:srcRect l="24615" t="0" r="24463" b="44375"/>
          <a:stretch/>
        </p:blipFill>
        <p:spPr>
          <a:xfrm>
            <a:off x="2782800" y="1841040"/>
            <a:ext cx="2994120" cy="332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Рисунок 2" descr=""/>
          <p:cNvPicPr/>
          <p:nvPr/>
        </p:nvPicPr>
        <p:blipFill>
          <a:blip r:embed="rId2"/>
          <a:stretch/>
        </p:blipFill>
        <p:spPr>
          <a:xfrm>
            <a:off x="6084720" y="1408320"/>
            <a:ext cx="5965920" cy="3879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27600" y="923400"/>
            <a:ext cx="9140400" cy="61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62500" lnSpcReduction="19999"/>
          </a:bodyPr>
          <a:p>
            <a:pPr indent="0" defTabSz="9327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4000" spc="-51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Методика выполнения работы</a:t>
            </a:r>
            <a:r>
              <a:rPr b="1" lang="en-US" sz="4000" spc="-51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.</a:t>
            </a:r>
            <a:br>
              <a:rPr sz="4000"/>
            </a:br>
            <a:r>
              <a:rPr b="1" lang="ru-RU" sz="4000" spc="-51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Сайт проекта</a:t>
            </a:r>
            <a:r>
              <a:rPr b="1" lang="en-US" sz="4000" spc="-51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.</a:t>
            </a:r>
            <a:endParaRPr b="0" lang="ru-RU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230160" y="5323680"/>
            <a:ext cx="2769120" cy="153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Страница помощи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" name="" descr=""/>
          <p:cNvPicPr/>
          <p:nvPr/>
        </p:nvPicPr>
        <p:blipFill>
          <a:blip r:embed="rId1"/>
          <a:srcRect l="5837" t="0" r="0" b="0"/>
          <a:stretch/>
        </p:blipFill>
        <p:spPr>
          <a:xfrm>
            <a:off x="6120360" y="1402560"/>
            <a:ext cx="5804640" cy="381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" descr=""/>
          <p:cNvPicPr/>
          <p:nvPr/>
        </p:nvPicPr>
        <p:blipFill>
          <a:blip r:embed="rId2"/>
          <a:stretch/>
        </p:blipFill>
        <p:spPr>
          <a:xfrm>
            <a:off x="230400" y="2144160"/>
            <a:ext cx="5618880" cy="199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"/>
          <p:cNvSpPr/>
          <p:nvPr/>
        </p:nvSpPr>
        <p:spPr>
          <a:xfrm>
            <a:off x="900000" y="4140000"/>
            <a:ext cx="26989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Segoe UI"/>
                <a:ea typeface="DejaVu Sans"/>
              </a:rPr>
              <a:t>Работа тестов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086360" y="487440"/>
            <a:ext cx="802872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4000" spc="-51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Методика выполнения работы Тестирование</a:t>
            </a:r>
            <a:endParaRPr b="0" lang="ru-RU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205160" y="4916520"/>
            <a:ext cx="6954480" cy="327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Результаты тестирования среди пользователей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2" name="Таблица 1"/>
          <p:cNvGraphicFramePr/>
          <p:nvPr/>
        </p:nvGraphicFramePr>
        <p:xfrm>
          <a:off x="4205880" y="1834920"/>
          <a:ext cx="7489080" cy="3081600"/>
        </p:xfrm>
        <a:graphic>
          <a:graphicData uri="http://schemas.openxmlformats.org/drawingml/2006/table">
            <a:tbl>
              <a:tblPr/>
              <a:tblGrid>
                <a:gridCol w="2490120"/>
                <a:gridCol w="2566080"/>
                <a:gridCol w="2433240"/>
              </a:tblGrid>
              <a:tr h="7016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egoe UI"/>
                        </a:rPr>
                        <a:t>№ пользователя</a:t>
                      </a:r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egoe UI"/>
                        </a:rPr>
                        <a:t>Удобство пользования</a:t>
                      </a:r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egoe UI"/>
                        </a:rPr>
                        <a:t>Удобства эксплуатации</a:t>
                      </a:r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67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egoe UI"/>
                        </a:rPr>
                        <a:t>1</a:t>
                      </a:r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egoe UI"/>
                        </a:rPr>
                        <a:t>10</a:t>
                      </a:r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egoe UI"/>
                        </a:rPr>
                        <a:t>10</a:t>
                      </a:r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67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egoe UI"/>
                        </a:rPr>
                        <a:t>2</a:t>
                      </a:r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egoe UI"/>
                        </a:rPr>
                        <a:t>8</a:t>
                      </a:r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egoe UI"/>
                        </a:rPr>
                        <a:t>9</a:t>
                      </a:r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67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egoe UI"/>
                        </a:rPr>
                        <a:t>3</a:t>
                      </a:r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egoe UI"/>
                        </a:rPr>
                        <a:t>9</a:t>
                      </a:r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egoe UI"/>
                        </a:rPr>
                        <a:t>10</a:t>
                      </a:r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67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egoe UI"/>
                        </a:rPr>
                        <a:t>4</a:t>
                      </a:r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egoe UI"/>
                        </a:rPr>
                        <a:t>10</a:t>
                      </a:r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egoe UI"/>
                        </a:rPr>
                        <a:t>10</a:t>
                      </a:r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67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egoe UI"/>
                        </a:rPr>
                        <a:t>5</a:t>
                      </a:r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egoe UI"/>
                        </a:rPr>
                        <a:t>9</a:t>
                      </a:r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egoe UI"/>
                        </a:rPr>
                        <a:t>10</a:t>
                      </a:r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67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egoe UI"/>
                        </a:rPr>
                        <a:t>Средняя оценка:</a:t>
                      </a:r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egoe UI"/>
                        </a:rPr>
                        <a:t>9.2</a:t>
                      </a:r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egoe UI"/>
                        </a:rPr>
                        <a:t>9.8</a:t>
                      </a:r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/>
          </p:nvPr>
        </p:nvSpPr>
        <p:spPr>
          <a:xfrm>
            <a:off x="762120" y="1905120"/>
            <a:ext cx="6476040" cy="327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264653"/>
              </a:buClr>
              <a:buFont typeface="Arial"/>
              <a:buChar char="•"/>
            </a:pPr>
            <a:r>
              <a:rPr b="1" lang="ru-RU" sz="20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Созданы страницы сайта, в которых размещены разработанные видеоуроки и тесты. Была продумана система взаимодействия пользователя с образовательным контентом, а также реализован раздел помощи с экстренными контактами.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title"/>
          </p:nvPr>
        </p:nvSpPr>
        <p:spPr>
          <a:xfrm>
            <a:off x="762120" y="716040"/>
            <a:ext cx="647604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40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Результат: </a:t>
            </a:r>
            <a:r>
              <a:rPr b="1" lang="ru-RU" sz="40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	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/>
          </p:nvPr>
        </p:nvSpPr>
        <p:spPr>
          <a:xfrm>
            <a:off x="540000" y="1768680"/>
            <a:ext cx="5578920" cy="110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14400">
              <a:lnSpc>
                <a:spcPct val="90000"/>
              </a:lnSpc>
              <a:buClr>
                <a:srgbClr val="ffffff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Добавление новых сервисов Яндекс в базу данных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Внедрение системы отслеживания прогресса обучения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Создание форума для общения пользователей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title"/>
          </p:nvPr>
        </p:nvSpPr>
        <p:spPr>
          <a:xfrm>
            <a:off x="762120" y="716040"/>
            <a:ext cx="10667160" cy="64440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4000" strike="noStrike" u="none">
                <a:solidFill>
                  <a:schemeClr val="accent3"/>
                </a:solidFill>
                <a:effectLst/>
                <a:uFillTx/>
                <a:latin typeface="Segoe UI"/>
              </a:rPr>
              <a:t>Дальнейшее развитие:</a:t>
            </a:r>
            <a:endParaRPr b="0" lang="ru-RU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8820720" y="360000"/>
            <a:ext cx="3058920" cy="1719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64760" y="902520"/>
            <a:ext cx="9140400" cy="122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ctr" defTabSz="9327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4000" spc="-51" strike="noStrike" u="none">
                <a:solidFill>
                  <a:schemeClr val="accent3"/>
                </a:solidFill>
                <a:effectLst/>
                <a:uFillTx/>
                <a:latin typeface="Segoe UI"/>
              </a:rPr>
              <a:t>Список использованной литературы:</a:t>
            </a:r>
            <a:br>
              <a:rPr sz="4000"/>
            </a:br>
            <a:endParaRPr b="0" lang="ru-RU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605160" y="2044440"/>
            <a:ext cx="9497880" cy="153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1. Яковлева, А. С. Образовательные онлайн-платформы для людей «серебряного возраста»: анализ эффективности / А. С. Яковлева. — Текст : электронный // Современные проблемы науки и образования. — 2022. — № 2. — https://cyberleninka.ru/ (дата обращения: 20.12.2024)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2. Морозов, М. А. Web-дизайн: удобный сайт с нуля. UX-дизайн от стратегии до тестирования / М. А. Морозов. — Санкт-Петербург : Питер, 2020. — 288 с. — ISBN 978-5-4461-1455-6. — Текст : непосредственный.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3. Гулина, М. А. Психология социальной работы: учебное пособие для вузов / М. А. Гулина. — 5-е изд., испр. и доп. — Москва : Юрайт, 2021. — 411 с. — URL: https://www.biblio-online.ru/ (дата обращения: 20.12.2024)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4. Официальный блог UX-исследований Яндекс. — URL: https://ux.yandex.ru/ (дата обращения: 20.12.2024)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5. «Азбука интернета» : совместный проект ПАО «Ростелеком» и Пенсионного фонда РФ. — URL: http://azbukainterneta.ru/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6. Django Documentation [Электронный ресурс]. — URL: https://docs.djangoproject.com/ (дата обращения: 15.12.2024)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7. MDN Web Docs [Электронный ресурс]. — URL: https://developer.mozilla.org/ (дата обращения: 15.12.2024)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8. W3Schools Online Web Tutorials [Электронный ресурс]. — URL: https://www.w3schools.com/ (дата обращения: 15.12.2024)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9. Петрова, Е. В. Цифровая грамотность старшего поколения: проблемы и пути решения / Е. В. Петрова, С. Н. Иванов. — Текст : электронный // Информационное общество. — 2021. — № 3. — С. 65–72.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10. timeweb.com - Как сделать сайт удобным для пожилых людей [Электронный ресурс]. — URL: https://timeweb.com/ru/community/articles/ (дата обращения: 18.12.2024)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525320" y="2962800"/>
            <a:ext cx="9140400" cy="61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ctr" defTabSz="9327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4000" spc="-51" strike="noStrike" u="none">
                <a:solidFill>
                  <a:schemeClr val="accent3"/>
                </a:solidFill>
                <a:effectLst/>
                <a:uFillTx/>
                <a:latin typeface="Segoe UI"/>
              </a:rPr>
              <a:t>Спасибо за внимание!</a:t>
            </a:r>
            <a:endParaRPr b="0" lang="ru-RU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_Office Theme">
  <a:themeElements>
    <a:clrScheme name="Custom 24">
      <a:dk1>
        <a:srgbClr val="000000"/>
      </a:dk1>
      <a:lt1>
        <a:srgbClr val="ffffff"/>
      </a:lt1>
      <a:dk2>
        <a:srgbClr val="000000"/>
      </a:dk2>
      <a:lt2>
        <a:srgbClr val="e6e6e6"/>
      </a:lt2>
      <a:accent1>
        <a:srgbClr val="264653"/>
      </a:accent1>
      <a:accent2>
        <a:srgbClr val="2a9d8f"/>
      </a:accent2>
      <a:accent3>
        <a:srgbClr val="e9c46a"/>
      </a:accent3>
      <a:accent4>
        <a:srgbClr val="f4a261"/>
      </a:accent4>
      <a:accent5>
        <a:srgbClr val="e76f51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Office Theme">
  <a:themeElements>
    <a:clrScheme name="Custom 24">
      <a:dk1>
        <a:srgbClr val="000000"/>
      </a:dk1>
      <a:lt1>
        <a:srgbClr val="ffffff"/>
      </a:lt1>
      <a:dk2>
        <a:srgbClr val="000000"/>
      </a:dk2>
      <a:lt2>
        <a:srgbClr val="e6e6e6"/>
      </a:lt2>
      <a:accent1>
        <a:srgbClr val="264653"/>
      </a:accent1>
      <a:accent2>
        <a:srgbClr val="2a9d8f"/>
      </a:accent2>
      <a:accent3>
        <a:srgbClr val="e9c46a"/>
      </a:accent3>
      <a:accent4>
        <a:srgbClr val="f4a261"/>
      </a:accent4>
      <a:accent5>
        <a:srgbClr val="e76f51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Office Theme">
  <a:themeElements>
    <a:clrScheme name="Custom 24">
      <a:dk1>
        <a:srgbClr val="000000"/>
      </a:dk1>
      <a:lt1>
        <a:srgbClr val="ffffff"/>
      </a:lt1>
      <a:dk2>
        <a:srgbClr val="000000"/>
      </a:dk2>
      <a:lt2>
        <a:srgbClr val="e6e6e6"/>
      </a:lt2>
      <a:accent1>
        <a:srgbClr val="264653"/>
      </a:accent1>
      <a:accent2>
        <a:srgbClr val="2a9d8f"/>
      </a:accent2>
      <a:accent3>
        <a:srgbClr val="e9c46a"/>
      </a:accent3>
      <a:accent4>
        <a:srgbClr val="f4a261"/>
      </a:accent4>
      <a:accent5>
        <a:srgbClr val="e76f51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Office Theme">
  <a:themeElements>
    <a:clrScheme name="Custom 24">
      <a:dk1>
        <a:srgbClr val="000000"/>
      </a:dk1>
      <a:lt1>
        <a:srgbClr val="ffffff"/>
      </a:lt1>
      <a:dk2>
        <a:srgbClr val="000000"/>
      </a:dk2>
      <a:lt2>
        <a:srgbClr val="e6e6e6"/>
      </a:lt2>
      <a:accent1>
        <a:srgbClr val="264653"/>
      </a:accent1>
      <a:accent2>
        <a:srgbClr val="2a9d8f"/>
      </a:accent2>
      <a:accent3>
        <a:srgbClr val="e9c46a"/>
      </a:accent3>
      <a:accent4>
        <a:srgbClr val="f4a261"/>
      </a:accent4>
      <a:accent5>
        <a:srgbClr val="e76f51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2_Office Theme">
  <a:themeElements>
    <a:clrScheme name="Custom 24">
      <a:dk1>
        <a:srgbClr val="000000"/>
      </a:dk1>
      <a:lt1>
        <a:srgbClr val="ffffff"/>
      </a:lt1>
      <a:dk2>
        <a:srgbClr val="000000"/>
      </a:dk2>
      <a:lt2>
        <a:srgbClr val="e6e6e6"/>
      </a:lt2>
      <a:accent1>
        <a:srgbClr val="264653"/>
      </a:accent1>
      <a:accent2>
        <a:srgbClr val="2a9d8f"/>
      </a:accent2>
      <a:accent3>
        <a:srgbClr val="e9c46a"/>
      </a:accent3>
      <a:accent4>
        <a:srgbClr val="f4a261"/>
      </a:accent4>
      <a:accent5>
        <a:srgbClr val="e76f51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2_Office Theme">
  <a:themeElements>
    <a:clrScheme name="Custom 24">
      <a:dk1>
        <a:srgbClr val="000000"/>
      </a:dk1>
      <a:lt1>
        <a:srgbClr val="ffffff"/>
      </a:lt1>
      <a:dk2>
        <a:srgbClr val="000000"/>
      </a:dk2>
      <a:lt2>
        <a:srgbClr val="e6e6e6"/>
      </a:lt2>
      <a:accent1>
        <a:srgbClr val="264653"/>
      </a:accent1>
      <a:accent2>
        <a:srgbClr val="2a9d8f"/>
      </a:accent2>
      <a:accent3>
        <a:srgbClr val="e9c46a"/>
      </a:accent3>
      <a:accent4>
        <a:srgbClr val="f4a261"/>
      </a:accent4>
      <a:accent5>
        <a:srgbClr val="e76f51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2_Office Theme">
  <a:themeElements>
    <a:clrScheme name="Custom 24">
      <a:dk1>
        <a:srgbClr val="000000"/>
      </a:dk1>
      <a:lt1>
        <a:srgbClr val="ffffff"/>
      </a:lt1>
      <a:dk2>
        <a:srgbClr val="000000"/>
      </a:dk2>
      <a:lt2>
        <a:srgbClr val="e6e6e6"/>
      </a:lt2>
      <a:accent1>
        <a:srgbClr val="264653"/>
      </a:accent1>
      <a:accent2>
        <a:srgbClr val="2a9d8f"/>
      </a:accent2>
      <a:accent3>
        <a:srgbClr val="e9c46a"/>
      </a:accent3>
      <a:accent4>
        <a:srgbClr val="f4a261"/>
      </a:accent4>
      <a:accent5>
        <a:srgbClr val="e76f51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2_Office Theme">
  <a:themeElements>
    <a:clrScheme name="Custom 24">
      <a:dk1>
        <a:srgbClr val="000000"/>
      </a:dk1>
      <a:lt1>
        <a:srgbClr val="ffffff"/>
      </a:lt1>
      <a:dk2>
        <a:srgbClr val="000000"/>
      </a:dk2>
      <a:lt2>
        <a:srgbClr val="e6e6e6"/>
      </a:lt2>
      <a:accent1>
        <a:srgbClr val="264653"/>
      </a:accent1>
      <a:accent2>
        <a:srgbClr val="2a9d8f"/>
      </a:accent2>
      <a:accent3>
        <a:srgbClr val="e9c46a"/>
      </a:accent3>
      <a:accent4>
        <a:srgbClr val="f4a261"/>
      </a:accent4>
      <a:accent5>
        <a:srgbClr val="e76f51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2_Office Theme">
  <a:themeElements>
    <a:clrScheme name="Custom 24">
      <a:dk1>
        <a:srgbClr val="000000"/>
      </a:dk1>
      <a:lt1>
        <a:srgbClr val="ffffff"/>
      </a:lt1>
      <a:dk2>
        <a:srgbClr val="000000"/>
      </a:dk2>
      <a:lt2>
        <a:srgbClr val="e6e6e6"/>
      </a:lt2>
      <a:accent1>
        <a:srgbClr val="264653"/>
      </a:accent1>
      <a:accent2>
        <a:srgbClr val="2a9d8f"/>
      </a:accent2>
      <a:accent3>
        <a:srgbClr val="e9c46a"/>
      </a:accent3>
      <a:accent4>
        <a:srgbClr val="f4a261"/>
      </a:accent4>
      <a:accent5>
        <a:srgbClr val="e76f51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2_Office Theme">
  <a:themeElements>
    <a:clrScheme name="Custom 24">
      <a:dk1>
        <a:srgbClr val="000000"/>
      </a:dk1>
      <a:lt1>
        <a:srgbClr val="ffffff"/>
      </a:lt1>
      <a:dk2>
        <a:srgbClr val="000000"/>
      </a:dk2>
      <a:lt2>
        <a:srgbClr val="e6e6e6"/>
      </a:lt2>
      <a:accent1>
        <a:srgbClr val="264653"/>
      </a:accent1>
      <a:accent2>
        <a:srgbClr val="2a9d8f"/>
      </a:accent2>
      <a:accent3>
        <a:srgbClr val="e9c46a"/>
      </a:accent3>
      <a:accent4>
        <a:srgbClr val="f4a261"/>
      </a:accent4>
      <a:accent5>
        <a:srgbClr val="e76f51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Black History Month presentation</Template>
  <TotalTime>13807</TotalTime>
  <Application>LibreOffice/25.2.2.2$Linux_X86_64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2025-10-31T16:41:45Z</dcterms:created>
  <dc:creator>sonyabaers@yandex.ru</dc:creator>
  <dc:description/>
  <dc:language>ru-RU</dc:language>
  <cp:lastModifiedBy/>
  <dcterms:modified xsi:type="dcterms:W3CDTF">2026-02-17T09:52:42Z</dcterms:modified>
  <cp:revision>11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Notes">
    <vt:r8>5</vt:r8>
  </property>
  <property fmtid="{D5CDD505-2E9C-101B-9397-08002B2CF9AE}" pid="4" name="PresentationFormat">
    <vt:lpwstr>Широкоэкранный</vt:lpwstr>
  </property>
  <property fmtid="{D5CDD505-2E9C-101B-9397-08002B2CF9AE}" pid="5" name="Slides">
    <vt:r8>14</vt:r8>
  </property>
</Properties>
</file>